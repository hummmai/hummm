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4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237744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5"/>
          <p:cNvSpPr/>
          <p:nvPr/>
        </p:nvSpPr>
        <p:spPr>
          <a:xfrm>
            <a:off x="64008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INVESTOR PITCH DECK · 2026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29260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 in the Future of Property.</a:t>
            </a:r>
            <a:endParaRPr lang="en-US" sz="5600" dirty="0"/>
          </a:p>
        </p:txBody>
      </p:sp>
      <p:sp>
        <p:nvSpPr>
          <p:cNvPr id="12" name="Text 7"/>
          <p:cNvSpPr/>
          <p:nvPr/>
        </p:nvSpPr>
        <p:spPr>
          <a:xfrm>
            <a:off x="640080" y="4480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Hummm AI — the intelligent AI platform transforming real estate for buyers, sellers, landlords and renters.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4008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£1M raise · £5M pre-money · SEIS/EIS pending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PROBLEM &amp; OPPORTUNITY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estate is broken — and consumers know it.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10972800" cy="914400"/>
          </a:xfrm>
          <a:prstGeom prst="roundRect">
            <a:avLst>
              <a:gd name="adj" fmla="val 1500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291840"/>
            <a:ext cx="548640" cy="548640"/>
          </a:xfrm>
          <a:prstGeom prst="rect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448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Opaque pricing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Sellers pay 1.4–3% commission. Landlords lose 8–15% to letting agents. No price transparency.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206240"/>
            <a:ext cx="10972800" cy="914400"/>
          </a:xfrm>
          <a:prstGeom prst="roundRect">
            <a:avLst>
              <a:gd name="adj" fmla="val 1500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Slow &amp; manual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54480" y="4709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Audits take days. Negotiations drag on for weeks. Paperwork is endless and error-prone.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5303520"/>
            <a:ext cx="10972800" cy="914400"/>
          </a:xfrm>
          <a:prstGeom prst="roundRect">
            <a:avLst>
              <a:gd name="adj" fmla="val 1500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5486400"/>
            <a:ext cx="548640" cy="548640"/>
          </a:xfrm>
          <a:prstGeom prst="rect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486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55448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AI leverage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58064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Legacy portals and agents add zero intelligence. Buyers and renters fly blind.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SOLUTION &amp; PRODUCT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AI co-pilot for every property decision.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Hummm AI replaces the legacy estate-agent model with an AI-native platform powered by GPT-5.x and our proprietary Savant engine.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02336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Instant Audits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4526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Paste any listing URL · valuation in seconds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402336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Autonomous Negotiation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0" y="4526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drafts, sends, and tracks offers end-to-end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521208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Letting &amp; Selling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5715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Compliance, contracts, viewings, AML built-in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09360" y="521208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Command Centres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83680" y="5715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Role-specific dashboards for every user type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MARKET SIZE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£200bn+ global opportunity.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5661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£200bn+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22960" y="4663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property services TAM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329184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35661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£18bn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657600" y="4663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 estate &amp; letting agency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29184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5661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492240" y="4663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global markets (UK, USA, UAE, Qatar +)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0" y="329184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35661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£12bn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9326880" y="4663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 across launch markets by 2028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BUSINESS MODEL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Disruptive pricing. Better margins.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undercut legacy fees by 60–80% while running on AI infrastructure with structurally lower CAC.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0.8%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4008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1.4–3% market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384048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5.5%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347472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7472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8–15% market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09360" y="384048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3%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30936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0936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10–12% market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144000" y="384048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0" y="4023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£149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914400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Negotiate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14400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flat fee per deal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· TRACTION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Proof we're already on the curve.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566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47k+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2296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audits run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0" y="32918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3566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£2.4bn+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65760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 analysed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32918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566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49224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markets live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144000" y="32918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3566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GPT-5.x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32688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Savant AI engine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Live in 14 markets · 0 → 47k audits in 9 months · TPO trust signals · partnerships pending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· FINANCIAL PROJECTIONS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Path to £40M ARR by year 5.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0972800" cy="502920"/>
          </a:xfrm>
          <a:prstGeom prst="rect">
            <a:avLst/>
          </a:prstGeom>
          <a:solidFill>
            <a:srgbClr val="14B8A6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364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0" y="3364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3364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0" y="3364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794760"/>
            <a:ext cx="10972800" cy="502920"/>
          </a:xfrm>
          <a:prstGeom prst="rect">
            <a:avLst/>
          </a:prstGeom>
          <a:solidFill>
            <a:srgbClr val="0C1729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867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57600" y="3867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£0.4M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0" y="3867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72%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144000" y="3867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£5M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4297680"/>
            <a:ext cx="10972800" cy="502920"/>
          </a:xfrm>
          <a:prstGeom prst="rect">
            <a:avLst/>
          </a:prstGeom>
          <a:solidFill>
            <a:srgbClr val="0F1D34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370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2027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657600" y="4370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£2.0M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00800" y="4370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75%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44000" y="4370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£20M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0080" y="4800600"/>
            <a:ext cx="10972800" cy="502920"/>
          </a:xfrm>
          <a:prstGeom prst="rect">
            <a:avLst/>
          </a:prstGeom>
          <a:solidFill>
            <a:srgbClr val="0C1729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873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2028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657600" y="4873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£7.5M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0" y="4873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78%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44000" y="4873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£75M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solidFill>
            <a:srgbClr val="0F1D34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" y="53766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2029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657600" y="53766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£18M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00800" y="53766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80%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144000" y="53766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£180M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solidFill>
            <a:srgbClr val="0C1729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8795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2030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3657600" y="58795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£40M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400800" y="58795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82%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9144000" y="58795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£400M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· GO-TO-MARKET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Negotiation-first wedge → full-stack platform.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972800" cy="685800"/>
          </a:xfrm>
          <a:prstGeom prst="roundRect">
            <a:avLst>
              <a:gd name="adj" fmla="val 2000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33756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17320" y="3319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Wedge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49040" y="33192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AI audits &amp; paste-link negotiation drive viral acquisition.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977640"/>
            <a:ext cx="10972800" cy="685800"/>
          </a:xfrm>
          <a:prstGeom prst="roundRect">
            <a:avLst>
              <a:gd name="adj" fmla="val 2000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411480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4096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49040" y="40965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£149 negotiation fee converts free users into paid deals.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4754880"/>
            <a:ext cx="10972800" cy="685800"/>
          </a:xfrm>
          <a:prstGeom prst="roundRect">
            <a:avLst>
              <a:gd name="adj" fmla="val 2000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89204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17320" y="4873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749040" y="48737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Upsell Sell (0.8%), Let (5.5%), and Management (3%) services.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5532120"/>
            <a:ext cx="10972800" cy="685800"/>
          </a:xfrm>
          <a:prstGeom prst="roundRect">
            <a:avLst>
              <a:gd name="adj" fmla="val 20000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" y="56692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5669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17320" y="56509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749040" y="56509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Roll out 14 global markets via Savant AI's regional regulatory layer.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· COMPETITION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AI-native vs legacy portals &amp; agents.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solidFill>
            <a:srgbClr val="14B8A6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273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3273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Hummm AI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40680" y="3273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Rightmove / Zoopla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0" y="3273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Legacy Agents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55480" y="3273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Purplebricks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solidFill>
            <a:srgbClr val="0C1729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730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Negotiation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83280" y="37307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40680" y="37307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0" y="37307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555480" y="37307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solidFill>
            <a:srgbClr val="0F1D34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1879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Instant Audits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83280" y="41879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41879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98080" y="41879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555480" y="41879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solidFill>
            <a:srgbClr val="0C1729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645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Sub-1% Sell Fee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83280" y="46451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40680" y="46451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n/a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98080" y="46451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555480" y="46451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Partial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solidFill>
            <a:srgbClr val="0F1D34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" y="5102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Markets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383280" y="51023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440680" y="51023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 only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498080" y="51023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555480" y="51023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 only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solidFill>
            <a:srgbClr val="0C1729"/>
          </a:solidFill>
          <a:ln w="6350">
            <a:solidFill>
              <a:srgbClr val="1C2F4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" y="5559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Service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383280" y="5559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40680" y="5559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498080" y="5559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555480" y="5559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· TEAM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Operators who've built and sold in property &amp; AI.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3611880" cy="2560320"/>
          </a:xfrm>
          <a:prstGeom prst="roundRect">
            <a:avLst>
              <a:gd name="adj" fmla="val 5357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80260" y="3520440"/>
            <a:ext cx="731520" cy="7315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389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Rob — Founder &amp; CEO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yrs prop-tech &amp; lettings. Built and exited two agencies.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3291840"/>
            <a:ext cx="3611880" cy="2560320"/>
          </a:xfrm>
          <a:prstGeom prst="roundRect">
            <a:avLst>
              <a:gd name="adj" fmla="val 5357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75020" y="3520440"/>
            <a:ext cx="731520" cy="7315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4389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&amp; Engineering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6344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GPT-5.x integration, Savant engine, full-stack Supabase platform.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0" y="3291840"/>
            <a:ext cx="3611880" cy="2560320"/>
          </a:xfrm>
          <a:prstGeom prst="roundRect">
            <a:avLst>
              <a:gd name="adj" fmla="val 5357"/>
            </a:avLst>
          </a:prstGeom>
          <a:solidFill>
            <a:srgbClr val="0F1D34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69780" y="3520440"/>
            <a:ext cx="731520" cy="7315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0" y="4389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58200" y="5029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Ex-Rightmove, ex-Purplebricks, FCA &amp; legal counsel on retainer.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53312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· THE ASK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£1M raise · £5M pre-money valuation.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18-month runway to £2M ARR and Series A readiness. SEIS/EIS advance assurance pending. Lead investor allocation available — £250k minimum cheque.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493776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Engineering &amp; AI 45%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4297680"/>
            <a:ext cx="3291840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Growth &amp; Marketing 30%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869680" y="4297680"/>
            <a:ext cx="1645920" cy="548640"/>
          </a:xfrm>
          <a:prstGeom prst="rect">
            <a:avLst/>
          </a:prstGeom>
          <a:solidFill>
            <a:srgbClr val="0D7D72"/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0" y="4297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 &amp; Compliance 15%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515600" y="4297680"/>
            <a:ext cx="1097280" cy="548640"/>
          </a:xfrm>
          <a:prstGeom prst="rect">
            <a:avLst/>
          </a:prstGeom>
          <a:solidFill>
            <a:srgbClr val="1C2F4F"/>
          </a:solidFill>
          <a:ln/>
        </p:spPr>
      </p:sp>
      <p:sp>
        <p:nvSpPr>
          <p:cNvPr id="18" name="Text 15"/>
          <p:cNvSpPr/>
          <p:nvPr/>
        </p:nvSpPr>
        <p:spPr>
          <a:xfrm>
            <a:off x="10607040" y="4297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Reserve 10%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120640"/>
            <a:ext cx="10972800" cy="1097280"/>
          </a:xfrm>
          <a:prstGeom prst="roundRect">
            <a:avLst>
              <a:gd name="adj" fmla="val 12500"/>
            </a:avLst>
          </a:prstGeom>
          <a:solidFill>
            <a:srgbClr val="0C1F3A"/>
          </a:solidFill>
          <a:ln w="9525">
            <a:solidFill>
              <a:srgbClr val="1C2F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5257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£250k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3200400" y="5349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Minimum lead cheque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SEIS / EIS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Advance assurance pending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128 City Road, London EC1V 2NX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1605321" cy="3840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25603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5"/>
          <p:cNvSpPr/>
          <p:nvPr/>
        </p:nvSpPr>
        <p:spPr>
          <a:xfrm>
            <a:off x="64008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LET'S TALK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3108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the future of property with us.</a:t>
            </a:r>
            <a:endParaRPr lang="en-US" sz="4800" dirty="0"/>
          </a:p>
        </p:txBody>
      </p:sp>
      <p:sp>
        <p:nvSpPr>
          <p:cNvPr id="12" name="Text 7"/>
          <p:cNvSpPr/>
          <p:nvPr/>
        </p:nvSpPr>
        <p:spPr>
          <a:xfrm>
            <a:off x="640080" y="4663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rob@hummm.pro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64008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Hummm AI · 128 City Road, London EC1V 2NX, United Kingdom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hummm.pro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Investor Pitch Deck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Hummm AI — Investor Pitch Deck</dc:title>
  <dc:subject>PptxGenJS Presentation</dc:subject>
  <dc:creator>Hummm AI</dc:creator>
  <cp:lastModifiedBy>Hummm AI</cp:lastModifiedBy>
  <cp:revision>1</cp:revision>
  <dcterms:created xsi:type="dcterms:W3CDTF">2026-05-21T18:11:16Z</dcterms:created>
  <dcterms:modified xsi:type="dcterms:W3CDTF">2026-05-21T18:11:16Z</dcterms:modified>
</cp:coreProperties>
</file>